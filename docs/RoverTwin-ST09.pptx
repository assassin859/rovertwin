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ECHFEST">
    <p:bg>
      <p:bgPr>
        <a:solidFill>
          <a:srgbClr val="0305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"/>
            <a:ext cx="12191695" cy="10058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68680"/>
            <a:ext cx="12191695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TECHFEST 2026–27  ·  SPACE TECHNOLOGY HACKATHON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6895" y="6446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 ID · TF27-SPACE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B"/>
          </a:solidFill>
          <a:ln/>
        </p:spPr>
      </p:sp>
      <p:sp>
        <p:nvSpPr>
          <p:cNvPr id="3" name="Shape 1"/>
          <p:cNvSpPr/>
          <p:nvPr/>
        </p:nvSpPr>
        <p:spPr>
          <a:xfrm>
            <a:off x="14020495" y="-1828800"/>
            <a:ext cx="8229600" cy="8229600"/>
          </a:xfrm>
          <a:prstGeom prst="rect">
            <a:avLst/>
          </a:prstGeom>
          <a:ln w="635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34895" y="-914400"/>
            <a:ext cx="6400800" cy="6400800"/>
          </a:xfrm>
          <a:prstGeom prst="rect">
            <a:avLst/>
          </a:prstGeom>
          <a:ln w="635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5" name="Shape 33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41" name="Shape 39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44" name="Shape 42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noFill/>
          <a:ln/>
        </p:spPr>
      </p:sp>
      <p:sp>
        <p:nvSpPr>
          <p:cNvPr id="45" name="Text 43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TECHFEST  2026–27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 TECHNOLOGY  HACKATHON</a:t>
            </a:r>
            <a:endParaRPr lang="en-US" sz="1100" dirty="0"/>
          </a:p>
        </p:txBody>
      </p:sp>
      <p:pic>
        <p:nvPicPr>
          <p:cNvPr id="47" name="Image 0" descr="TECHFEST 2026-27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800" y="1005840"/>
            <a:ext cx="3200400" cy="32004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548640" y="4389120"/>
            <a:ext cx="1109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ROUND 1 — SOLUTION PROPOSAL</a:t>
            </a:r>
            <a:endParaRPr lang="en-US" sz="2200" dirty="0"/>
          </a:p>
        </p:txBody>
      </p:sp>
      <p:sp>
        <p:nvSpPr>
          <p:cNvPr id="49" name="Text 46"/>
          <p:cNvSpPr/>
          <p:nvPr/>
        </p:nvSpPr>
        <p:spPr>
          <a:xfrm>
            <a:off x="548640" y="4937760"/>
            <a:ext cx="1109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5–6 OCTOBER 2026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48640" y="5303520"/>
            <a:ext cx="1109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Smt. Indira Gandhi College of Engineering, Navi Mumbai</a:t>
            </a:r>
            <a:endParaRPr lang="en-US" sz="1200" dirty="0"/>
          </a:p>
        </p:txBody>
      </p:sp>
      <p:pic>
        <p:nvPicPr>
          <p:cNvPr id="58" name="Image 1" descr="Colleg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960" y="411480"/>
            <a:ext cx="914400" cy="914400"/>
          </a:xfrm>
          <a:prstGeom prst="rect">
            <a:avLst/>
          </a:prstGeom>
        </p:spPr>
      </p:pic>
      <p:sp>
        <p:nvSpPr>
          <p:cNvPr id="59" name="Shape 5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548640" y="2880360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Bahnschrift"/>
              </a:rPr>
              <a:t>SatTwin  ·  ST-09</a:t>
            </a:r>
          </a:p>
          <a:p>
            <a:r>
              <a:rPr sz="1800" b="0">
                <a:solidFill>
                  <a:srgbClr val="BAE6FD"/>
                </a:solidFill>
                <a:latin typeface="Calibri"/>
              </a:rPr>
              <a:t>Mission Digital Twin for Predictive Fault Simulation</a:t>
            </a:r>
          </a:p>
          <a:p>
            <a:r>
              <a:rPr sz="1300" b="0">
                <a:solidFill>
                  <a:srgbClr val="22D3EE"/>
                </a:solidFill>
                <a:latin typeface="Consolas"/>
              </a:rPr>
              <a:t>LEO EO smallsat twin  ·  github.com/Assassin859/RoverTwin  ·  rovertwin.vercel.app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6596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FF9933"/>
                </a:solidFill>
                <a:latin typeface="Calibri"/>
              </a:rPr>
              <a:t>▸ TECHFEST ST-09 — Mission Digital Twin for Predictive Fault Simulation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Build a digital twin that is not a dashboard of canned plots: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• Model ≥3 coupled spacecraft subsystems with real cause→effect links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• Synchronise to telemetry (or honestly show pass-gated sync states)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• Inject faults, show where effects spread next, and why (equations)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• Predict impact with time + uncertainty; rank recovery before uplink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Judge traps: pretty UI with no coupling · standalone sim · no validation 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6596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 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Problem Understanding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Domain — 500 km LEO Earth-observation smallsat (~95 min orbit)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Eclipse + ground-station passes gate TM/TC. Ops must act between AOS windows.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Failure physics is multi-hop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Battery degradation → heat (EPS→TCS) → ADCS gyro bias / COMMS margin / PAYLOAD shed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Operators need root vs knock-on, not six independent gauges.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What “twin” means here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Same physics model as the craft, corrected only by downlinked frames.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Sync states INIT / SYNCED / LOW RATE / BLIND — silence is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6596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 MISSION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SatTwin — live mission digital twin + operator console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1. Mirror — six coupled subsystems (EPS · TCS · ADCS · COMMS · PAYLOAD · OBDH)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2. Break — inject battery / thermal / sensor / comms faults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3. Spread — 14 equation-backed coupling edges light up as the cascade runs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4. Predict — 2 h ensemble forecast + first-critical headline with band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5. Recover — ranked plans scored for safety / power / thermal / data / pointing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6. Execute — queue for next AOS; confirm uplink; show contained / resolved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Hands-free 3-min judge path on live backend or Vercel offline replay.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6596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F9933"/>
                </a:solidFill>
                <a:latin typeface="Calibri"/>
              </a:rPr>
              <a:t>▸ Data path (enforced by tests/test_twin.py)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Plant (hidden truth) → RadioLink (latency, rate limit, loss, AOS/LOS)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                    → DigitalTwin (same model.step + estimated health only)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9933"/>
                </a:solidFill>
                <a:latin typeface="Calibri"/>
              </a:rPr>
              <a:t>▸ Ground segment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Correlate / cascade graph · Predictor (ensemble + plan simulation)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FastAPI: private WebSocket /ws (~10 Hz snaps) + REST /api/* + SQLite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View-model: incident · ops · timeline · score_breakdown (single source of truth)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F9933"/>
                </a:solidFill>
                <a:latin typeface="Calibri"/>
              </a:rPr>
              <a:t>▸ Operator console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  Inject · cascade · forecast · plans · evidence (/api/validate, /api/backtest, CSV)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6596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 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Backend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Python · FastAPI · WebSocket · physics model (1 Hz) · pytest suite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Optional local Ollama (qwen2.5:3b) — narrates twin facts only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Frontend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Vanilla ops console (HTML/CSS/JS) · Three.js orbit scene · uPlot-style charts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Offline tape: demo-replay.json.gz on Vercel when backend unreachable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Delivery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Local uvicorn for venue demo · https://rovertwin.vercel.app backup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?backend= points static UI at a live ground segment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6596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 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Workflow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3-minute judge demo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Landing → 3-MIN JUDGE PATH → inject battery → watch EPS→TCS→… cascade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Forecast pauses on first critical → compare / execute isolate at AOS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Confirm recovery · optional Show truth (harness) · hover edges for KaTeX/equations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Operator loop (always)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Observe sync + subsystem scores → diagnose root → simulate plans → uplink at pass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Cold start:  uvicorn backend.app:app --port 8000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6596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Innovation &amp; Impact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Innovation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Cause→effect is model-derived, not scripted UI animation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Twin never cheats by reading plant state — same constraint as a real ground segment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Plans are forward-simulated and scored before the next uplink opportunity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Impact for ST-09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Answers all four judge questions on-screen (no slide-only story)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Venue-ready: live laptop demo + offline Vercel replay fallback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Extensible: CSV ingest, validation/backtest APIs, optional LLM narration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6596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 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Implementation &amp; Future Scope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Now (Round 1)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LEO smallsat twin · 6 subsystems · cascade · forecast · recovery · evidence APIs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Next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Richer ephemeris / multi-GS · flight-correlated ensembles · more fault catalogues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Hardened React console (optional) behind the same protocol v2 contract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F9933"/>
                </a:solidFill>
                <a:latin typeface="Calibri"/>
              </a:rPr>
              <a:t>▸ Future scope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  Ops training scenarios · hardware-in-the-loop telemetry adapters · multi-sat constellation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965960" y="182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 CREW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Team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F9933"/>
                </a:solidFill>
                <a:latin typeface="Calibri"/>
              </a:rPr>
              <a:t>▸ Team SatTwin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  Project: SatTwin (repo Assassin859/RoverTwin)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  Track: Space Technology Hackathon · Problem ST-09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  Demo: local uvicorn + https://rovertwin.vercel.app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  Add member names / roles here before venue submit.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B"/>
          </a:solidFill>
          <a:ln/>
        </p:spPr>
      </p:sp>
      <p:sp>
        <p:nvSpPr>
          <p:cNvPr id="2" name="Shape 0"/>
          <p:cNvSpPr/>
          <p:nvPr/>
        </p:nvSpPr>
        <p:spPr>
          <a:xfrm>
            <a:off x="14020495" y="-1828800"/>
            <a:ext cx="8229600" cy="8229600"/>
          </a:xfrm>
          <a:prstGeom prst="ellipse">
            <a:avLst/>
          </a:prstGeom>
          <a:ln w="635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934895" y="-914400"/>
            <a:ext cx="6400800" cy="6400800"/>
          </a:xfrm>
          <a:prstGeom prst="ellipse">
            <a:avLst/>
          </a:prstGeom>
          <a:ln w="6350">
            <a:solidFill>
              <a:srgbClr val="7DD3F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62453" y="3739885"/>
            <a:ext cx="30808" cy="30808"/>
          </a:xfrm>
          <a:prstGeom prst="ellipse">
            <a:avLst/>
          </a:prstGeom>
          <a:solidFill>
            <a:srgbClr val="22D3EE">
              <a:alpha val="7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45024" y="6200657"/>
            <a:ext cx="44111" cy="44111"/>
          </a:xfrm>
          <a:prstGeom prst="ellipse">
            <a:avLst/>
          </a:prstGeom>
          <a:solidFill>
            <a:srgbClr val="22D3EE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44517" y="4722666"/>
            <a:ext cx="26134" cy="26134"/>
          </a:xfrm>
          <a:prstGeom prst="ellipse">
            <a:avLst/>
          </a:prstGeom>
          <a:solidFill>
            <a:srgbClr val="FFFFFF">
              <a:alpha val="5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72893" y="89076"/>
            <a:ext cx="18985" cy="18985"/>
          </a:xfrm>
          <a:prstGeom prst="ellipse">
            <a:avLst/>
          </a:prstGeom>
          <a:solidFill>
            <a:srgbClr val="22D3EE">
              <a:alpha val="8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20284" y="6545057"/>
            <a:ext cx="47161" cy="47161"/>
          </a:xfrm>
          <a:prstGeom prst="ellipse">
            <a:avLst/>
          </a:prstGeom>
          <a:solidFill>
            <a:srgbClr val="FFFFFF">
              <a:alpha val="4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42851" y="6839773"/>
            <a:ext cx="36268" cy="36268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161820" y="994392"/>
            <a:ext cx="48734" cy="48734"/>
          </a:xfrm>
          <a:prstGeom prst="ellipse">
            <a:avLst/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640487" y="4778081"/>
            <a:ext cx="31839" cy="31839"/>
          </a:xfrm>
          <a:prstGeom prst="ellipse">
            <a:avLst/>
          </a:prstGeom>
          <a:solidFill>
            <a:srgbClr val="FFFFFF">
              <a:alpha val="83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96990" y="4750006"/>
            <a:ext cx="29046" cy="29046"/>
          </a:xfrm>
          <a:prstGeom prst="ellipse">
            <a:avLst/>
          </a:prstGeom>
          <a:solidFill>
            <a:srgbClr val="22D3EE">
              <a:alpha val="47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45209" y="169333"/>
            <a:ext cx="49950" cy="49950"/>
          </a:xfrm>
          <a:prstGeom prst="ellipse">
            <a:avLst/>
          </a:prstGeom>
          <a:solidFill>
            <a:srgbClr val="22D3EE">
              <a:alpha val="7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438217" y="1471230"/>
            <a:ext cx="37768" cy="37768"/>
          </a:xfrm>
          <a:prstGeom prst="ellipse">
            <a:avLst/>
          </a:prstGeom>
          <a:solidFill>
            <a:srgbClr val="22D3EE">
              <a:alpha val="7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22907" y="5882863"/>
            <a:ext cx="44090" cy="44090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439036" y="5043399"/>
            <a:ext cx="25681" cy="25681"/>
          </a:xfrm>
          <a:prstGeom prst="ellipse">
            <a:avLst/>
          </a:prstGeom>
          <a:solidFill>
            <a:srgbClr val="FFFFFF">
              <a:alpha val="6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12838" y="4054005"/>
            <a:ext cx="31420" cy="31420"/>
          </a:xfrm>
          <a:prstGeom prst="ellipse">
            <a:avLst/>
          </a:prstGeom>
          <a:solidFill>
            <a:srgbClr val="22D3EE">
              <a:alpha val="89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136577" y="3951846"/>
            <a:ext cx="47875" cy="47875"/>
          </a:xfrm>
          <a:prstGeom prst="ellipse">
            <a:avLst/>
          </a:prstGeom>
          <a:solidFill>
            <a:srgbClr val="22D3EE">
              <a:alpha val="6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559273" y="2472090"/>
            <a:ext cx="52128" cy="52128"/>
          </a:xfrm>
          <a:prstGeom prst="ellipse">
            <a:avLst/>
          </a:prstGeom>
          <a:solidFill>
            <a:srgbClr val="FFFFFF">
              <a:alpha val="6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88631" y="6239904"/>
            <a:ext cx="52420" cy="52420"/>
          </a:xfrm>
          <a:prstGeom prst="ellipse">
            <a:avLst/>
          </a:prstGeom>
          <a:solidFill>
            <a:srgbClr val="22D3EE">
              <a:alpha val="6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253975" y="6386454"/>
            <a:ext cx="43446" cy="43446"/>
          </a:xfrm>
          <a:prstGeom prst="ellipse">
            <a:avLst/>
          </a:prstGeom>
          <a:solidFill>
            <a:srgbClr val="22D3EE">
              <a:alpha val="5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021896" y="6742906"/>
            <a:ext cx="22609" cy="22609"/>
          </a:xfrm>
          <a:prstGeom prst="ellipse">
            <a:avLst/>
          </a:prstGeom>
          <a:solidFill>
            <a:srgbClr val="FFFFFF">
              <a:alpha val="4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173264" y="1742428"/>
            <a:ext cx="30663" cy="30663"/>
          </a:xfrm>
          <a:prstGeom prst="ellipse">
            <a:avLst/>
          </a:prstGeom>
          <a:solidFill>
            <a:srgbClr val="FFFFFF">
              <a:alpha val="67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199379" y="42186"/>
            <a:ext cx="33853" cy="33853"/>
          </a:xfrm>
          <a:prstGeom prst="ellipse">
            <a:avLst/>
          </a:prstGeom>
          <a:solidFill>
            <a:srgbClr val="FFFFFF">
              <a:alpha val="4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1185" y="4711347"/>
            <a:ext cx="49903" cy="49903"/>
          </a:xfrm>
          <a:prstGeom prst="ellipse">
            <a:avLst/>
          </a:prstGeom>
          <a:solidFill>
            <a:srgbClr val="22D3EE">
              <a:alpha val="4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599323" y="4849078"/>
            <a:ext cx="42349" cy="42349"/>
          </a:xfrm>
          <a:prstGeom prst="ellipse">
            <a:avLst/>
          </a:prstGeom>
          <a:solidFill>
            <a:srgbClr val="22D3EE">
              <a:alpha val="43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0461" y="6064544"/>
            <a:ext cx="22143" cy="22143"/>
          </a:xfrm>
          <a:prstGeom prst="ellipse">
            <a:avLst/>
          </a:prstGeom>
          <a:solidFill>
            <a:srgbClr val="22D3EE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54809" y="3806913"/>
            <a:ext cx="27327" cy="27327"/>
          </a:xfrm>
          <a:prstGeom prst="ellipse">
            <a:avLst/>
          </a:prstGeom>
          <a:solidFill>
            <a:srgbClr val="22D3EE">
              <a:alpha val="6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74476" y="2415352"/>
            <a:ext cx="53951" cy="53951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13194" y="4451027"/>
            <a:ext cx="47940" cy="47940"/>
          </a:xfrm>
          <a:prstGeom prst="ellipse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048742" y="4601104"/>
            <a:ext cx="31083" cy="31083"/>
          </a:xfrm>
          <a:prstGeom prst="ellipse">
            <a:avLst/>
          </a:prstGeom>
          <a:solidFill>
            <a:srgbClr val="22D3EE">
              <a:alpha val="79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14699" y="1870751"/>
            <a:ext cx="31940" cy="31940"/>
          </a:xfrm>
          <a:prstGeom prst="ellipse">
            <a:avLst/>
          </a:prstGeom>
          <a:solidFill>
            <a:srgbClr val="22D3EE">
              <a:alpha val="41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313553" y="2631134"/>
            <a:ext cx="41141" cy="41141"/>
          </a:xfrm>
          <a:prstGeom prst="ellipse">
            <a:avLst/>
          </a:prstGeom>
          <a:solidFill>
            <a:srgbClr val="22D3EE">
              <a:alpha val="5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657264" y="807420"/>
            <a:ext cx="27642" cy="27642"/>
          </a:xfrm>
          <a:prstGeom prst="ellipse">
            <a:avLst/>
          </a:prstGeom>
          <a:solidFill>
            <a:srgbClr val="22D3EE">
              <a:alpha val="7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35966" y="3786775"/>
            <a:ext cx="52516" cy="52516"/>
          </a:xfrm>
          <a:prstGeom prst="ellipse">
            <a:avLst/>
          </a:prstGeom>
          <a:solidFill>
            <a:srgbClr val="FFFFFF">
              <a:alpha val="71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14123" y="1176367"/>
            <a:ext cx="41369" cy="41369"/>
          </a:xfrm>
          <a:prstGeom prst="ellipse">
            <a:avLst/>
          </a:prstGeom>
          <a:solidFill>
            <a:srgbClr val="22D3EE">
              <a:alpha val="71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688046" y="6713361"/>
            <a:ext cx="20053" cy="20053"/>
          </a:xfrm>
          <a:prstGeom prst="ellipse">
            <a:avLst/>
          </a:prstGeom>
          <a:solidFill>
            <a:srgbClr val="FFFFFF">
              <a:alpha val="67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954252" y="1876925"/>
            <a:ext cx="45576" cy="45576"/>
          </a:xfrm>
          <a:prstGeom prst="ellipse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268" y="658225"/>
            <a:ext cx="51673" cy="51673"/>
          </a:xfrm>
          <a:prstGeom prst="ellipse">
            <a:avLst/>
          </a:prstGeom>
          <a:solidFill>
            <a:srgbClr val="22D3EE">
              <a:alpha val="6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773670" y="2316427"/>
            <a:ext cx="47939" cy="47939"/>
          </a:xfrm>
          <a:prstGeom prst="ellipse">
            <a:avLst/>
          </a:prstGeom>
          <a:solidFill>
            <a:srgbClr val="FFFFFF">
              <a:alpha val="5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93835" y="3570699"/>
            <a:ext cx="50743" cy="50743"/>
          </a:xfrm>
          <a:prstGeom prst="ellipse">
            <a:avLst/>
          </a:prstGeom>
          <a:solidFill>
            <a:srgbClr val="FFFFFF">
              <a:alpha val="6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029962" y="1648207"/>
            <a:ext cx="38524" cy="38524"/>
          </a:xfrm>
          <a:prstGeom prst="ellipse">
            <a:avLst/>
          </a:prstGeom>
          <a:solidFill>
            <a:srgbClr val="22D3EE">
              <a:alpha val="83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13503" y="1904118"/>
            <a:ext cx="41196" cy="41196"/>
          </a:xfrm>
          <a:prstGeom prst="ellipse">
            <a:avLst/>
          </a:prstGeom>
          <a:solidFill>
            <a:srgbClr val="22D3EE">
              <a:alpha val="87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962387" y="2581598"/>
            <a:ext cx="34489" cy="34489"/>
          </a:xfrm>
          <a:prstGeom prst="ellipse">
            <a:avLst/>
          </a:prstGeom>
          <a:solidFill>
            <a:srgbClr val="FFFFFF">
              <a:alpha val="8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793791" y="4717815"/>
            <a:ext cx="41546" cy="41546"/>
          </a:xfrm>
          <a:prstGeom prst="ellipse">
            <a:avLst/>
          </a:prstGeom>
          <a:solidFill>
            <a:srgbClr val="FFFFFF">
              <a:alpha val="41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323518" y="6047934"/>
            <a:ext cx="39449" cy="39449"/>
          </a:xfrm>
          <a:prstGeom prst="ellipse">
            <a:avLst/>
          </a:prstGeom>
          <a:solidFill>
            <a:srgbClr val="FFFFFF">
              <a:alpha val="77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884186" y="6339123"/>
            <a:ext cx="36439" cy="36439"/>
          </a:xfrm>
          <a:prstGeom prst="ellipse">
            <a:avLst/>
          </a:prstGeom>
          <a:solidFill>
            <a:srgbClr val="22D3EE">
              <a:alpha val="63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705119" y="3580547"/>
            <a:ext cx="27211" cy="27211"/>
          </a:xfrm>
          <a:prstGeom prst="ellipse">
            <a:avLst/>
          </a:prstGeom>
          <a:solidFill>
            <a:srgbClr val="FFFFFF">
              <a:alpha val="89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36300" y="1603375"/>
            <a:ext cx="45745" cy="45745"/>
          </a:xfrm>
          <a:prstGeom prst="ellipse">
            <a:avLst/>
          </a:prstGeom>
          <a:solidFill>
            <a:srgbClr val="FFFFFF">
              <a:alpha val="7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375206" y="1698772"/>
            <a:ext cx="23064" cy="23064"/>
          </a:xfrm>
          <a:prstGeom prst="ellipse">
            <a:avLst/>
          </a:prstGeom>
          <a:solidFill>
            <a:srgbClr val="22D3EE">
              <a:alpha val="49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588225" y="5665905"/>
            <a:ext cx="35144" cy="35144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59519" y="2857941"/>
            <a:ext cx="26556" cy="26556"/>
          </a:xfrm>
          <a:prstGeom prst="ellipse">
            <a:avLst/>
          </a:prstGeom>
          <a:solidFill>
            <a:srgbClr val="22D3EE">
              <a:alpha val="8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643119" y="2948046"/>
            <a:ext cx="33988" cy="33988"/>
          </a:xfrm>
          <a:prstGeom prst="ellipse">
            <a:avLst/>
          </a:prstGeom>
          <a:solidFill>
            <a:srgbClr val="22D3EE">
              <a:alpha val="49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1645920"/>
            <a:ext cx="1109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MISSION READY.</a:t>
            </a:r>
            <a:endParaRPr lang="en-US" sz="7200" dirty="0"/>
          </a:p>
        </p:txBody>
      </p:sp>
      <p:sp>
        <p:nvSpPr>
          <p:cNvPr id="55" name="Text 53"/>
          <p:cNvSpPr/>
          <p:nvPr/>
        </p:nvSpPr>
        <p:spPr>
          <a:xfrm>
            <a:off x="548640" y="2743200"/>
            <a:ext cx="1109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181600" y="3474720"/>
            <a:ext cx="18288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pic>
        <p:nvPicPr>
          <p:cNvPr id="60" name="Image 0" descr="TECHFEST 2026-27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0" y="3931920"/>
            <a:ext cx="1371600" cy="1371600"/>
          </a:xfrm>
          <a:prstGeom prst="rect">
            <a:avLst/>
          </a:prstGeom>
        </p:spPr>
      </p:pic>
      <p:pic>
        <p:nvPicPr>
          <p:cNvPr id="61" name="Image 1" descr="Colleg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3931920"/>
            <a:ext cx="1371600" cy="1371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16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01" name="TextBox 200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22D3EE"/>
                </a:solidFill>
                <a:latin typeface="Consolas"/>
              </a:rPr>
              <a:t>SatTwin · ST-09  ·  github.com/Assassin859/RoverTwin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TECHFEST 2026–27 · Space Technology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TECHFEST 2026–27 · Round 1 Submission Template</dc:title>
  <dc:subject>PptxGenJS Presentation</dc:subject>
  <dc:creator>Smt. Indira Gandhi College of Engineering, Navi Mumbai</dc:creator>
  <cp:lastModifiedBy>Smt. Indira Gandhi College of Engineering, Navi Mumbai</cp:lastModifiedBy>
  <cp:revision>1</cp:revision>
  <dcterms:created xsi:type="dcterms:W3CDTF">2026-09-30T11:16:59Z</dcterms:created>
  <dcterms:modified xsi:type="dcterms:W3CDTF">2026-09-30T11:16:59Z</dcterms:modified>
</cp:coreProperties>
</file>