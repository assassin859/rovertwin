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9933"/>
                </a:solidFill>
                <a:latin typeface="Calibri"/>
              </a:defRPr>
            </a:pPr>
            <a:r>
              <a:t>RoverTwin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4EDE4"/>
                </a:solidFill>
                <a:latin typeface="Calibri"/>
              </a:defRPr>
            </a:pPr>
            <a:r>
              <a:t>TECHFEST 2026–27 · Space Technology Hackathon · ST-09</a:t>
            </a:r>
          </a:p>
          <a:p>
            <a:pPr>
              <a:spcAft>
                <a:spcPts val="800"/>
              </a:spcAft>
              <a:defRPr sz="1800">
                <a:solidFill>
                  <a:srgbClr val="F4EDE4"/>
                </a:solidFill>
                <a:latin typeface="Calibri"/>
              </a:defRPr>
            </a:pPr>
            <a:r>
              <a:t>Mission Digital Twin for Predictive Fault Simulation</a:t>
            </a:r>
          </a:p>
          <a:p>
            <a:pPr>
              <a:spcAft>
                <a:spcPts val="800"/>
              </a:spcAft>
              <a:defRPr sz="18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4EDE4"/>
                </a:solidFill>
                <a:latin typeface="Calibri"/>
              </a:defRPr>
            </a:pPr>
            <a:r>
              <a:t>A telemetry-synchronised digital twin of a lunar rover —</a:t>
            </a:r>
          </a:p>
          <a:p>
            <a:pPr>
              <a:spcAft>
                <a:spcPts val="800"/>
              </a:spcAft>
              <a:defRPr sz="1800">
                <a:solidFill>
                  <a:srgbClr val="F4EDE4"/>
                </a:solidFill>
                <a:latin typeface="Calibri"/>
              </a:defRPr>
            </a:pPr>
            <a:r>
              <a:t>not a dashboard of canned plots.</a:t>
            </a:r>
          </a:p>
          <a:p>
            <a:pPr>
              <a:spcAft>
                <a:spcPts val="800"/>
              </a:spcAft>
              <a:defRPr sz="18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4EDE4"/>
                </a:solidFill>
                <a:latin typeface="Calibri"/>
              </a:defRPr>
            </a:pPr>
            <a:r>
              <a:t>github.com/Assassin859/RoverTwin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9933"/>
                </a:solidFill>
                <a:latin typeface="Calibri"/>
              </a:defRPr>
            </a:pPr>
            <a:r>
              <a:t>Judge trap 1 — subsystems + equations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Six coupled subsystems in one step: EPS · TCS · GNC · COMMS · MOB · DATA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EPS:  Voc(SOC),  P = Voc·I + I²R,  SOĊ from solar − load − I²R − leak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TCS:  two-node C·Ṫ for avionics &amp; battery; radiator η·A·σ(T⁴ − T_sink⁴)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GNC:  attitude error dynamics + thermal gyro bias 0.0025·max(0,T_av−45)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COMMS:  M = M0 − pointing − trx − temp − brownout − range  → data rate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14 live coupling edges are drawn from these equations every second.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9933"/>
                </a:solidFill>
                <a:latin typeface="Calibri"/>
              </a:defRPr>
            </a:pPr>
            <a:r>
              <a:t>Judge trap 2 — live cascade (battery)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Inject battery degradation → internal short + high R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Next: battery heats (EPS→TCS), then avionics, SOC drains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Twin diagnoses root cause and ranks “isolate string” best</a:t>
            </a:r>
          </a:p>
        </p:txBody>
      </p:sp>
      <p:pic>
        <p:nvPicPr>
          <p:cNvPr id="4" name="Picture 3" descr="02-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5502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9933"/>
                </a:solidFill>
                <a:latin typeface="Calibri"/>
              </a:defRPr>
            </a:pPr>
            <a:r>
              <a:t>Judge trap 3 — sync ≠ standalone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Plant (hidden truth) → RadioLink (2.6 s latency, rate limit, packet loss)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                    → Twin (same model + estimated health only)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Sync states: INIT · SYNCED · LOW RATE · BLIND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While blind the twin propagates alone; silence can diagnose the radio.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The twin never reads the plant — enforced by tests/test_twin.py.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Show truth = test harness overlay, not the twin’s belief.</a:t>
            </a:r>
          </a:p>
        </p:txBody>
      </p:sp>
      <p:pic>
        <p:nvPicPr>
          <p:cNvPr id="4" name="Picture 3" descr="02-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8229600" cy="45502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9933"/>
                </a:solidFill>
                <a:latin typeface="Calibri"/>
              </a:defRPr>
            </a:pPr>
            <a:r>
              <a:t>Judge trap 4 — how we checked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pytest: cascade edges, twin convergence, recovery ranking (15 tests)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Headless ~40 min after battery onset (seed 3):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  leak 56 W vs 58 W true · R×5.18 vs ×5.25 · capacity 62% vs 62%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  radiator η 0.377 vs 0.37 · IMU bias exact · nominal → no false DIAG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UI “Show truth (test harness)” compares estimate vs hidden plant.</a:t>
            </a:r>
          </a:p>
          <a:p>
            <a:pPr>
              <a:spcAft>
                <a:spcPts val="800"/>
              </a:spcAft>
              <a:defRPr sz="1500">
                <a:solidFill>
                  <a:srgbClr val="F4EDE4"/>
                </a:solidFill>
                <a:latin typeface="Calibri"/>
              </a:defRPr>
            </a:pPr>
            <a:r>
              <a:t>Recovery: isolate string → contained finding, forecast goes green.</a:t>
            </a:r>
          </a:p>
        </p:txBody>
      </p:sp>
      <p:pic>
        <p:nvPicPr>
          <p:cNvPr id="4" name="Picture 3" descr="04-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8229600" cy="45502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9933"/>
                </a:solidFill>
                <a:latin typeface="Calibri"/>
              </a:defRPr>
            </a:pPr>
            <a:r>
              <a:t>3-minute judge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1. Landing → GUIDED DEMO (primary CTA)</a:t>
            </a: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2. Inject Battery → watch residuals, diagnosis, EPS→TCS edge</a:t>
            </a: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3. Forecast pauses on critical → ranked recovery plans</a:t>
            </a: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4. Execute isolate → uplink confirm → contained + all clear</a:t>
            </a: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5. Optional: Show truth · Model check tab · hover edges for equations</a:t>
            </a: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Cold start:  bash scripts/smoke.sh   or   .\scripts\smoke.ps1</a:t>
            </a: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Run:         uvicorn backend.app:app --port 8000</a:t>
            </a:r>
          </a:p>
          <a:p>
            <a:pPr>
              <a:spcAft>
                <a:spcPts val="800"/>
              </a:spcAft>
              <a:defRPr sz="1600">
                <a:solidFill>
                  <a:srgbClr val="F4EDE4"/>
                </a:solidFill>
                <a:latin typeface="Calibri"/>
              </a:defRPr>
            </a:pPr>
            <a:r>
              <a:t>Repo:        https://github.com/Assassin859/RoverTwin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