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9933"/>
                </a:solidFill>
                <a:latin typeface="Calibri"/>
              </a:defRPr>
            </a:pPr>
            <a:r>
              <a:t>SatTwin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6EDF3"/>
                </a:solidFill>
                <a:latin typeface="Calibri"/>
              </a:defRPr>
            </a:pPr>
            <a:r>
              <a:t>TECHFEST 2026–27 · Space Technology Hackathon · ST-09</a:t>
            </a:r>
          </a:p>
          <a:p>
            <a:pPr>
              <a:spcAft>
                <a:spcPts val="600"/>
              </a:spcAft>
              <a:defRPr sz="1700">
                <a:solidFill>
                  <a:srgbClr val="E6EDF3"/>
                </a:solidFill>
                <a:latin typeface="Calibri"/>
              </a:defRPr>
            </a:pPr>
            <a:r>
              <a:t>Mission Digital Twin for Predictive Fault Simulation</a:t>
            </a:r>
          </a:p>
          <a:p>
            <a:pPr>
              <a:spcAft>
                <a:spcPts val="600"/>
              </a:spcAft>
              <a:defRPr sz="1700">
                <a:solidFill>
                  <a:srgbClr val="E6EDF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6EDF3"/>
                </a:solidFill>
                <a:latin typeface="Calibri"/>
              </a:defRPr>
            </a:pPr>
            <a:r>
              <a:t>A telemetry-synchronised LEO Earth-observation smallsat twin —</a:t>
            </a:r>
          </a:p>
          <a:p>
            <a:pPr>
              <a:spcAft>
                <a:spcPts val="600"/>
              </a:spcAft>
              <a:defRPr sz="1700">
                <a:solidFill>
                  <a:srgbClr val="E6EDF3"/>
                </a:solidFill>
                <a:latin typeface="Calibri"/>
              </a:defRPr>
            </a:pPr>
            <a:r>
              <a:t>not a dashboard of canned plots.</a:t>
            </a:r>
          </a:p>
          <a:p>
            <a:pPr>
              <a:spcAft>
                <a:spcPts val="600"/>
              </a:spcAft>
              <a:defRPr sz="1700">
                <a:solidFill>
                  <a:srgbClr val="E6EDF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6EDF3"/>
                </a:solidFill>
                <a:latin typeface="Calibri"/>
              </a:defRPr>
            </a:pPr>
            <a:r>
              <a:t>github.com/Assassin859/RoverTwin  ·  rovertwin.vercel.app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933"/>
                </a:solidFill>
                <a:latin typeface="Calibri"/>
              </a:defRPr>
            </a:pPr>
            <a:r>
              <a:t>Architecture — plant, link,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Plant (hidden truth)     — model.step + faults + FDIR autonomy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RadioLink                — pass-gated TM/TC: latency, rate limit, loss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DigitalTwin              — same physics; estimates health from frames only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Correlate / Cascade      — 14 coupling edges; multi-hop cause→effect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Predictor                — 2 h ensemble forecast + ranked recovery plans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FastAPI ground segment   — private /ws console (~10 Hz) + REST /api/*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Operator console         — inject · watch cascade · predict · execute at AOS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Invariant: the twin never reads plant state (tests/test_twin.py).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UI names: EPS · TCS · ADCS · COMMS · PAYLOAD · OBDH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Wire ids GNC/MOB/DATA map to ADCS/PAYLOAD/OBDH in the console.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933"/>
                </a:solidFill>
                <a:latin typeface="Calibri"/>
              </a:defRPr>
            </a:pPr>
            <a:r>
              <a:t>Q1 — subsystems + equations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Six coupled subsystems in one 1 Hz step:</a:t>
            </a:r>
          </a:p>
          <a:p>
            <a:pPr>
              <a:spcAft>
                <a:spcPts val="600"/>
              </a:spcAft>
              <a:defRPr sz="1500">
                <a:solidFill>
                  <a:srgbClr val="9AA7B4"/>
                </a:solidFill>
                <a:latin typeface="Calibri"/>
              </a:defRPr>
            </a:pPr>
            <a:r>
              <a:t>  EPS · TCS · ADCS(GNC) · COMMS · PAYLOAD(MOB) · OBDH(DATA)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EPS:  Voc(SOC),  P = Voc·I + I²R,  SOĊ from solar − load − heat − leak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TCS:  two-node C·Ṫ (avionics &amp; battery); radiator η·A·σ(T⁴ − T_sink⁴)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ADCS: attitude error + thermal gyro bias 0.0025·max(0, T_av−45)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COMMS: link margin M → data rate; pointing / temp / brownout losses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14 live coupling edges are drawn from these equations every second.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933"/>
                </a:solidFill>
                <a:latin typeface="Calibri"/>
              </a:defRPr>
            </a:pPr>
            <a:r>
              <a:t>Q2 — battery cascade (live)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Inject battery degradation → internal short + rising R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Next: battery heats (EPS→TCS) → avionics / ADCS / COMMS knock-ons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Twin diagnoses root, forecasts first critical, ranks isolate-string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Execute at next AOS → uplink → contained / resolved</a:t>
            </a:r>
          </a:p>
        </p:txBody>
      </p:sp>
      <p:pic>
        <p:nvPicPr>
          <p:cNvPr id="4" name="Picture 3" descr="02-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8229600" cy="45502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933"/>
                </a:solidFill>
                <a:latin typeface="Calibri"/>
              </a:defRPr>
            </a:pPr>
            <a:r>
              <a:t>Q3 — synced twin ≠ standalone 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Plant → RadioLink (2.6 s latency, rate limit, packet loss) → Twin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Sync states: INIT · SYNCED · LOW RATE · BLIND (pass-gated AOS/LOS)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While blind the twin propagates alone; silence can diagnose the radio.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Show truth = test harness overlay — never the twin’s belief.</a:t>
            </a:r>
          </a:p>
        </p:txBody>
      </p:sp>
      <p:pic>
        <p:nvPicPr>
          <p:cNvPr id="4" name="Picture 3" descr="02-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8229600" cy="45502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933"/>
                </a:solidFill>
                <a:latin typeface="Calibri"/>
              </a:defRPr>
            </a:pPr>
            <a:r>
              <a:t>Q4 — validation &amp; fidelity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pytest: cascade edges, twin convergence, recovery ranking, evidence APIs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GET /api/validate · GET /api/backtest · session CSV ingest</a:t>
            </a: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6EDF3"/>
                </a:solidFill>
                <a:latin typeface="Calibri"/>
              </a:defRPr>
            </a:pPr>
            <a:r>
              <a:t>Headless ~40 min after battery onset (seed 3):</a:t>
            </a:r>
          </a:p>
          <a:p>
            <a:pPr>
              <a:spcAft>
                <a:spcPts val="600"/>
              </a:spcAft>
              <a:defRPr sz="1500">
                <a:solidFill>
                  <a:srgbClr val="9AA7B4"/>
                </a:solidFill>
                <a:latin typeface="Calibri"/>
              </a:defRPr>
            </a:pPr>
            <a:r>
              <a:t>  leak / R_mult / capacity / radiator η / IMU bias track truth</a:t>
            </a:r>
          </a:p>
          <a:p>
            <a:pPr>
              <a:spcAft>
                <a:spcPts val="600"/>
              </a:spcAft>
              <a:defRPr sz="1500">
                <a:solidFill>
                  <a:srgbClr val="9AA7B4"/>
                </a:solidFill>
                <a:latin typeface="Calibri"/>
              </a:defRPr>
            </a:pPr>
            <a:r>
              <a:t>  nominal runs raise no false diagnoses</a:t>
            </a:r>
          </a:p>
        </p:txBody>
      </p:sp>
      <p:pic>
        <p:nvPicPr>
          <p:cNvPr id="4" name="Picture 3" descr="04-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45502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933"/>
                </a:solidFill>
                <a:latin typeface="Calibri"/>
              </a:defRPr>
            </a:pPr>
            <a:r>
              <a:t>3-minute judge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6EDF3"/>
                </a:solidFill>
                <a:latin typeface="Calibri"/>
              </a:defRPr>
            </a:pPr>
            <a:r>
              <a:t>1. Landing → 3-MIN JUDGE PATH</a:t>
            </a:r>
          </a:p>
          <a:p>
            <a:pPr>
              <a:spcAft>
                <a:spcPts val="600"/>
              </a:spcAft>
              <a:defRPr sz="1600">
                <a:solidFill>
                  <a:srgbClr val="E6EDF3"/>
                </a:solidFill>
                <a:latin typeface="Calibri"/>
              </a:defRPr>
            </a:pPr>
            <a:r>
              <a:t>2. Inject Battery → residuals, diagnosis, lit cascade edges</a:t>
            </a:r>
          </a:p>
          <a:p>
            <a:pPr>
              <a:spcAft>
                <a:spcPts val="600"/>
              </a:spcAft>
              <a:defRPr sz="1600">
                <a:solidFill>
                  <a:srgbClr val="E6EDF3"/>
                </a:solidFill>
                <a:latin typeface="Calibri"/>
              </a:defRPr>
            </a:pPr>
            <a:r>
              <a:t>3. Forecast / first critical → ranked recovery plans</a:t>
            </a:r>
          </a:p>
          <a:p>
            <a:pPr>
              <a:spcAft>
                <a:spcPts val="600"/>
              </a:spcAft>
              <a:defRPr sz="1600">
                <a:solidFill>
                  <a:srgbClr val="E6EDF3"/>
                </a:solidFill>
                <a:latin typeface="Calibri"/>
              </a:defRPr>
            </a:pPr>
            <a:r>
              <a:t>4. Execute isolate → uplink confirm → contained</a:t>
            </a:r>
          </a:p>
          <a:p>
            <a:pPr>
              <a:spcAft>
                <a:spcPts val="600"/>
              </a:spcAft>
              <a:defRPr sz="1600">
                <a:solidFill>
                  <a:srgbClr val="E6EDF3"/>
                </a:solidFill>
                <a:latin typeface="Calibri"/>
              </a:defRPr>
            </a:pPr>
            <a:r>
              <a:t>5. Optional: Show truth · hover edges for equations</a:t>
            </a:r>
          </a:p>
          <a:p>
            <a:pPr>
              <a:spcAft>
                <a:spcPts val="600"/>
              </a:spcAft>
              <a:defRPr sz="1600">
                <a:solidFill>
                  <a:srgbClr val="E6EDF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E6EDF3"/>
                </a:solidFill>
                <a:latin typeface="Calibri"/>
              </a:defRPr>
            </a:pPr>
            <a:r>
              <a:t>Run:   uvicorn backend.app:app --port 8000</a:t>
            </a:r>
          </a:p>
          <a:p>
            <a:pPr>
              <a:spcAft>
                <a:spcPts val="600"/>
              </a:spcAft>
              <a:defRPr sz="1600">
                <a:solidFill>
                  <a:srgbClr val="E6EDF3"/>
                </a:solidFill>
                <a:latin typeface="Calibri"/>
              </a:defRPr>
            </a:pPr>
            <a:r>
              <a:t>Offline backup: https://rovertwin.vercel.app</a:t>
            </a:r>
          </a:p>
          <a:p>
            <a:pPr>
              <a:spcAft>
                <a:spcPts val="600"/>
              </a:spcAft>
              <a:defRPr sz="1600">
                <a:solidFill>
                  <a:srgbClr val="E6EDF3"/>
                </a:solidFill>
                <a:latin typeface="Calibri"/>
              </a:defRPr>
            </a:pPr>
            <a:r>
              <a:t>Repo:  https://github.com/Assassin859/RoverTwin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